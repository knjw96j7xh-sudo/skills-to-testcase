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5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howGuide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320" cy="7632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4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876300"/>
            <a:ext cx="7810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1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 Skills 驱动编程实践培训</a:t>
            </a:r>
            <a:endParaRPr sz="31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17335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DEBF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0">
                <a:solidFill>
                  <a:srgbClr val="DDEBF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以 testcase-creator 项目为例：把一次性 Prompt 变成可复用、可验证、可迁移的工程资产</a:t>
            </a:r>
            <a:endParaRPr sz="1500" b="0">
              <a:solidFill>
                <a:srgbClr val="DDEBF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3028950"/>
            <a:ext cx="1428750" cy="40005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13372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标准流程</a:t>
            </a:r>
            <a:endParaRPr sz="11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571750" y="3028950"/>
            <a:ext cx="1428750" cy="400050"/>
          </a:xfrm>
          <a:prstGeom prst="rect">
            <a:avLst/>
          </a:prstGeom>
          <a:solidFill>
            <a:srgbClr val="1F8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313372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知识资产</a:t>
            </a:r>
            <a:endParaRPr sz="11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381500" y="3028950"/>
            <a:ext cx="1428750" cy="400050"/>
          </a:xfrm>
          <a:prstGeom prst="rect">
            <a:avLst/>
          </a:prstGeom>
          <a:solidFill>
            <a:srgbClr val="6A4F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381500" y="313372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工具入口</a:t>
            </a:r>
            <a:endParaRPr sz="11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91250" y="3028950"/>
            <a:ext cx="1428750" cy="400050"/>
          </a:xfrm>
          <a:prstGeom prst="rect">
            <a:avLst/>
          </a:prstGeom>
          <a:solidFill>
            <a:srgbClr val="F4A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191250" y="313372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质量闭环</a:t>
            </a:r>
            <a:endParaRPr sz="11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96250" y="990600"/>
            <a:ext cx="1314450" cy="83820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096250" y="1162050"/>
            <a:ext cx="1314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 套</a:t>
            </a:r>
            <a:endParaRPr sz="18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96250" y="1504950"/>
            <a:ext cx="1314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统一资产</a:t>
            </a:r>
            <a:endParaRPr sz="900" b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715500" y="990600"/>
            <a:ext cx="1314450" cy="838200"/>
          </a:xfrm>
          <a:prstGeom prst="rect">
            <a:avLst/>
          </a:prstGeom>
          <a:solidFill>
            <a:srgbClr val="1F8A5B"/>
          </a:solidFill>
          <a:ln w="0">
            <a:solidFill>
              <a:srgbClr val="000000">
                <a:alpha val="0"/>
              </a:srgb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715500" y="1162050"/>
            <a:ext cx="1314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 类</a:t>
            </a:r>
            <a:endParaRPr sz="18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715500" y="1504950"/>
            <a:ext cx="1314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工具入口</a:t>
            </a:r>
            <a:endParaRPr sz="900" b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096250" y="2247900"/>
            <a:ext cx="1314450" cy="83820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096250" y="2419350"/>
            <a:ext cx="1314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 步</a:t>
            </a:r>
            <a:endParaRPr sz="18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96250" y="2762250"/>
            <a:ext cx="1314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生成流程</a:t>
            </a:r>
            <a:endParaRPr sz="900" b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715500" y="2247900"/>
            <a:ext cx="1314450" cy="838200"/>
          </a:xfrm>
          <a:prstGeom prst="rect">
            <a:avLst/>
          </a:prstGeom>
          <a:solidFill>
            <a:srgbClr val="1F8A5B"/>
          </a:solidFill>
          <a:ln w="0">
            <a:solidFill>
              <a:srgbClr val="000000">
                <a:alpha val="0"/>
              </a:srgb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715500" y="2419350"/>
            <a:ext cx="1314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多格式</a:t>
            </a:r>
            <a:endParaRPr sz="18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15500" y="2762250"/>
            <a:ext cx="1314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交付导出</a:t>
            </a:r>
            <a:endParaRPr sz="900" b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2000" y="531495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培训目标：让团队知道如何用 Skills 驱动 AI 生成测试用例，并把经验沉淀到项目流程里。</a:t>
            </a:r>
            <a:endParaRPr sz="180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5981700"/>
            <a:ext cx="933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输出结果：一套可复用的 AI 生成测试用例方法，降低重复沟通和评审返工。</a:t>
            </a:r>
            <a:endParaRPr sz="127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477500" y="64389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</a:t>
            </a:r>
            <a:endParaRPr sz="8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19100"/>
            <a:ext cx="7810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为什么不能只靠一次性 Prompt</a:t>
            </a:r>
            <a:endParaRPr sz="225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问题不在于 AI 不会写，而在于每次都从零开始、边界不稳定。</a:t>
            </a:r>
            <a:endParaRPr sz="11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19200"/>
            <a:ext cx="9906000" cy="1905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581150"/>
            <a:ext cx="32956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581150"/>
            <a:ext cx="57150" cy="106680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1752600"/>
            <a:ext cx="2971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F6F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重复描述</a:t>
            </a:r>
            <a:endParaRPr sz="1275" b="1">
              <a:solidFill>
                <a:srgbClr val="1F6F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2095500"/>
            <a:ext cx="2971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每个人都要重新解释项目背景、输出格式、评审规则，沟通成本反复发生。</a:t>
            </a:r>
            <a:endParaRPr sz="97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38650" y="1581150"/>
            <a:ext cx="32956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438650" y="1581150"/>
            <a:ext cx="57150" cy="1066800"/>
          </a:xfrm>
          <a:prstGeom prst="rect">
            <a:avLst/>
          </a:prstGeom>
          <a:solidFill>
            <a:srgbClr val="D94C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48200" y="1752600"/>
            <a:ext cx="2971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D94C4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D94C4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输出不稳</a:t>
            </a:r>
            <a:endParaRPr sz="1275" b="1">
              <a:solidFill>
                <a:srgbClr val="D94C4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48200" y="2095500"/>
            <a:ext cx="2971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同一个需求换一种问法，生成的用例颗粒度、字段、覆盖点可能都不一致。</a:t>
            </a:r>
            <a:endParaRPr sz="97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3009900"/>
            <a:ext cx="32956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3009900"/>
            <a:ext cx="57150" cy="1066800"/>
          </a:xfrm>
          <a:prstGeom prst="rect">
            <a:avLst/>
          </a:prstGeom>
          <a:solidFill>
            <a:srgbClr val="F4A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19150" y="3181350"/>
            <a:ext cx="2971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4A26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F4A26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经验难沉淀</a:t>
            </a:r>
            <a:endParaRPr sz="1275" b="1">
              <a:solidFill>
                <a:srgbClr val="F4A26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9150" y="3524250"/>
            <a:ext cx="2971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优秀提示词停留在个人聊天记录里，团队复用和交接都困难。</a:t>
            </a:r>
            <a:endParaRPr sz="97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438650" y="3009900"/>
            <a:ext cx="32956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438650" y="3009900"/>
            <a:ext cx="57150" cy="1066800"/>
          </a:xfrm>
          <a:prstGeom prst="rect">
            <a:avLst/>
          </a:prstGeom>
          <a:solidFill>
            <a:srgbClr val="6A4F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648200" y="3181350"/>
            <a:ext cx="2971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6A4FB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6A4FB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交付不可控</a:t>
            </a:r>
            <a:endParaRPr sz="1275" b="1">
              <a:solidFill>
                <a:srgbClr val="6A4FB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648200" y="3524250"/>
            <a:ext cx="2971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缺少检查点、评审和导出标准，最后还要人工返工补质量。</a:t>
            </a:r>
            <a:endParaRPr sz="97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82000" y="1581150"/>
            <a:ext cx="838200" cy="361950"/>
          </a:xfrm>
          <a:prstGeom prst="rect">
            <a:avLst/>
          </a:prstGeom>
          <a:solidFill>
            <a:srgbClr val="12345A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458200" y="1657350"/>
            <a:ext cx="685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对比项</a:t>
            </a:r>
            <a:endParaRPr sz="9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220200" y="1581150"/>
            <a:ext cx="1028700" cy="361950"/>
          </a:xfrm>
          <a:prstGeom prst="rect">
            <a:avLst/>
          </a:prstGeom>
          <a:solidFill>
            <a:srgbClr val="12345A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296400" y="1657350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一次性 Prompt</a:t>
            </a:r>
            <a:endParaRPr sz="9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248900" y="1581150"/>
            <a:ext cx="1085850" cy="361950"/>
          </a:xfrm>
          <a:prstGeom prst="rect">
            <a:avLst/>
          </a:prstGeom>
          <a:solidFill>
            <a:srgbClr val="12345A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325100" y="1657350"/>
            <a:ext cx="933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Skills</a:t>
            </a:r>
            <a:endParaRPr sz="9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382000" y="1943100"/>
            <a:ext cx="8382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458200" y="2019300"/>
            <a:ext cx="685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背景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220200" y="1943100"/>
            <a:ext cx="10287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296400" y="2019300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手工补充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248900" y="1943100"/>
            <a:ext cx="10858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325100" y="2019300"/>
            <a:ext cx="933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自动读取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382000" y="2305050"/>
            <a:ext cx="8382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458200" y="2381250"/>
            <a:ext cx="685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格式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220200" y="2305050"/>
            <a:ext cx="10287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296400" y="2381250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临场约定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0248900" y="2305050"/>
            <a:ext cx="10858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0325100" y="2381250"/>
            <a:ext cx="933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项目固定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382000" y="2667000"/>
            <a:ext cx="8382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458200" y="2743200"/>
            <a:ext cx="685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评审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220200" y="2667000"/>
            <a:ext cx="10287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9296400" y="2743200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事后补漏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0248900" y="2667000"/>
            <a:ext cx="10858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325100" y="2743200"/>
            <a:ext cx="933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阶段检查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382000" y="3028950"/>
            <a:ext cx="8382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458200" y="3105150"/>
            <a:ext cx="685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复用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220200" y="3028950"/>
            <a:ext cx="10287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296400" y="3105150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个人经验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0248900" y="3028950"/>
            <a:ext cx="10858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0325100" y="3105150"/>
            <a:ext cx="933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团队资产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314450" y="5562600"/>
            <a:ext cx="8953500" cy="476250"/>
          </a:xfrm>
          <a:prstGeom prst="rect">
            <a:avLst/>
          </a:prstGeom>
          <a:solidFill>
            <a:srgbClr val="1234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2000250" y="5705475"/>
            <a:ext cx="762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结论：AI 提效要靠流程化约束，而不是靠临场发挥；项目越多人协作，Skills 价值越明显。</a:t>
            </a:r>
            <a:endParaRPr sz="13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0477500" y="64389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  <a:endParaRPr sz="8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19100"/>
            <a:ext cx="7810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什么是 Skills 驱动</a:t>
            </a:r>
            <a:endParaRPr sz="225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通俗理解：把“怎么让 AI 干活”写进项目，而不是每次靠人现场提醒。</a:t>
            </a:r>
            <a:endParaRPr sz="11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19200"/>
            <a:ext cx="9906000" cy="1905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52500" y="1695450"/>
            <a:ext cx="438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D94C4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D94C4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一次性 Prompt</a:t>
            </a:r>
            <a:endParaRPr sz="1800" b="1">
              <a:solidFill>
                <a:srgbClr val="D94C4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0" y="1695450"/>
            <a:ext cx="438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F8A5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>
                <a:solidFill>
                  <a:srgbClr val="1F8A5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Skills 驱动</a:t>
            </a:r>
            <a:endParaRPr sz="1800" b="1">
              <a:solidFill>
                <a:srgbClr val="1F8A5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2190750"/>
            <a:ext cx="41910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972300" y="2190750"/>
            <a:ext cx="41910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09700" y="2495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  靠个人写提示词</a:t>
            </a:r>
            <a:endParaRPr sz="1200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09700" y="2876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  背景每次重新输入</a:t>
            </a:r>
            <a:endParaRPr sz="1200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09700" y="3257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  输出质量取决于经验</a:t>
            </a:r>
            <a:endParaRPr sz="1200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09700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  结果难以审计和复用</a:t>
            </a:r>
            <a:endParaRPr sz="1200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315200" y="2495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  流程写进 SKILL.md</a:t>
            </a:r>
            <a:endParaRPr sz="1200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315200" y="2876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  资产统一放在项目里</a:t>
            </a:r>
            <a:endParaRPr sz="1200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315200" y="3257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  按阶段生成、评审、导出</a:t>
            </a:r>
            <a:endParaRPr sz="1200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315200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  团队共享同一套标准</a:t>
            </a:r>
            <a:endParaRPr sz="1200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19750" y="3124200"/>
            <a:ext cx="838200" cy="17145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等腰三角形 18"/>
          <p:cNvSpPr>
            <a:spLocks noGrp="1"/>
          </p:cNvSpPr>
          <p:nvPr/>
        </p:nvSpPr>
        <p:spPr>
          <a:xfrm>
            <a:off x="6343650" y="3009900"/>
            <a:ext cx="342900" cy="400050"/>
          </a:xfrm>
          <a:prstGeom prst="triangle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485900" y="4591050"/>
            <a:ext cx="4095750" cy="895350"/>
          </a:xfrm>
          <a:prstGeom prst="rect">
            <a:avLst/>
          </a:prstGeom>
          <a:solidFill>
            <a:srgbClr val="101827"/>
          </a:solidFill>
          <a:ln w="9525">
            <a:solidFill>
              <a:srgbClr val="22304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485900" y="4591050"/>
            <a:ext cx="4095750" cy="266700"/>
          </a:xfrm>
          <a:prstGeom prst="rect">
            <a:avLst/>
          </a:prstGeom>
          <a:solidFill>
            <a:srgbClr val="1B2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600200" y="4657725"/>
            <a:ext cx="3867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FE6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50" b="1">
                <a:solidFill>
                  <a:srgbClr val="CFE6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旧方式：每次重写</a:t>
            </a:r>
            <a:endParaRPr sz="750" b="1">
              <a:solidFill>
                <a:srgbClr val="CFE6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638300" y="4991100"/>
            <a:ext cx="3810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请按这个需求生成测试用例...</a:t>
            </a:r>
            <a:endParaRPr sz="8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字段要完整，覆盖异常场景。</a:t>
            </a:r>
            <a:endParaRPr sz="8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610350" y="4591050"/>
            <a:ext cx="4095750" cy="895350"/>
          </a:xfrm>
          <a:prstGeom prst="rect">
            <a:avLst/>
          </a:prstGeom>
          <a:solidFill>
            <a:srgbClr val="101827"/>
          </a:solidFill>
          <a:ln w="9525">
            <a:solidFill>
              <a:srgbClr val="22304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610350" y="4591050"/>
            <a:ext cx="4095750" cy="266700"/>
          </a:xfrm>
          <a:prstGeom prst="rect">
            <a:avLst/>
          </a:prstGeom>
          <a:solidFill>
            <a:srgbClr val="1B2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724650" y="4657725"/>
            <a:ext cx="3867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FE6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50" b="1">
                <a:solidFill>
                  <a:srgbClr val="CFE6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新方式：触发 Skill</a:t>
            </a:r>
            <a:endParaRPr sz="750" b="1">
              <a:solidFill>
                <a:srgbClr val="CFE6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762750" y="4991100"/>
            <a:ext cx="3810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读取 source-command-testcase-creator</a:t>
            </a:r>
            <a:endParaRPr sz="8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按五阶段流程生成并进入评审。</a:t>
            </a:r>
            <a:endParaRPr sz="8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162300" y="5810250"/>
            <a:ext cx="590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6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核心变化：从“会问 AI”升级为“让项目告诉 AI 怎么做”。</a:t>
            </a:r>
            <a:endParaRPr sz="165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477500" y="64389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sz="8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19100"/>
            <a:ext cx="7810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当前项目的 Skills 架构</a:t>
            </a:r>
            <a:endParaRPr sz="225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同一套项目资产，适配 Cursor、Claude、Codex/Agent 和纯聊天入口。</a:t>
            </a:r>
            <a:endParaRPr sz="11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19200"/>
            <a:ext cx="9906000" cy="1905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857750" y="2800350"/>
            <a:ext cx="2381250" cy="914400"/>
          </a:xfrm>
          <a:prstGeom prst="rect">
            <a:avLst/>
          </a:prstGeom>
          <a:solidFill>
            <a:srgbClr val="1234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010150" y="3028950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.testcase-assets</a:t>
            </a:r>
            <a:endParaRPr sz="15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029200" y="335280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DDEBF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DDEBF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检查点 / 评审点 / 项目配置</a:t>
            </a:r>
            <a:endParaRPr sz="975" b="0">
              <a:solidFill>
                <a:srgbClr val="DDEBF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1752600"/>
            <a:ext cx="27241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1752600"/>
            <a:ext cx="76200" cy="87630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19431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6F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F6F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.cursor/skills</a:t>
            </a:r>
            <a:endParaRPr sz="1350" b="1">
              <a:solidFill>
                <a:srgbClr val="1F6F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23950" y="22479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Cursor 读取 Skill 说明</a:t>
            </a:r>
            <a:endParaRPr sz="97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733800" y="2171700"/>
            <a:ext cx="1143000" cy="3810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20100" y="1752600"/>
            <a:ext cx="27241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420100" y="1752600"/>
            <a:ext cx="76200" cy="876300"/>
          </a:xfrm>
          <a:prstGeom prst="rect">
            <a:avLst/>
          </a:prstGeom>
          <a:solidFill>
            <a:srgbClr val="6A4F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667750" y="19431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A4FB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6A4FB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.claude/commands</a:t>
            </a:r>
            <a:endParaRPr sz="1350" b="1">
              <a:solidFill>
                <a:srgbClr val="6A4FB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667750" y="22479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Claude Code 命令入口</a:t>
            </a:r>
            <a:endParaRPr sz="97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239000" y="2171700"/>
            <a:ext cx="1143000" cy="3810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4324350"/>
            <a:ext cx="27241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76300" y="4324350"/>
            <a:ext cx="76200" cy="876300"/>
          </a:xfrm>
          <a:prstGeom prst="rect">
            <a:avLst/>
          </a:prstGeom>
          <a:solidFill>
            <a:srgbClr val="1F8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23950" y="45148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8A5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1F8A5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.agents/skills</a:t>
            </a:r>
            <a:endParaRPr sz="1350" b="1">
              <a:solidFill>
                <a:srgbClr val="1F8A5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23950" y="48196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Codex / Agent Skill</a:t>
            </a:r>
            <a:endParaRPr sz="97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733800" y="4743450"/>
            <a:ext cx="1143000" cy="3810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420100" y="4324350"/>
            <a:ext cx="27241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420100" y="4324350"/>
            <a:ext cx="76200" cy="876300"/>
          </a:xfrm>
          <a:prstGeom prst="rect">
            <a:avLst/>
          </a:prstGeom>
          <a:solidFill>
            <a:srgbClr val="F4A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667750" y="45148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4A26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>
                <a:solidFill>
                  <a:srgbClr val="F4A26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TESTCASE_GUIDE.md</a:t>
            </a:r>
            <a:endParaRPr sz="1350" b="1">
              <a:solidFill>
                <a:srgbClr val="F4A26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667750" y="48196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纯聊天兜底流程</a:t>
            </a:r>
            <a:endParaRPr sz="97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239000" y="4743450"/>
            <a:ext cx="1143000" cy="3810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905250" y="4267200"/>
            <a:ext cx="4248150" cy="1123950"/>
          </a:xfrm>
          <a:prstGeom prst="rect">
            <a:avLst/>
          </a:prstGeom>
          <a:solidFill>
            <a:srgbClr val="101827"/>
          </a:solidFill>
          <a:ln w="9525">
            <a:solidFill>
              <a:srgbClr val="22304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095750" y="4476750"/>
            <a:ext cx="3905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.testcase-assets/</a:t>
            </a:r>
            <a:endParaRPr sz="11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1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checkpoints-index.md</a:t>
            </a:r>
            <a:endParaRPr sz="11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1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review-expectations-index.md</a:t>
            </a:r>
            <a:endParaRPr sz="11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1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project.config.md</a:t>
            </a:r>
            <a:endParaRPr sz="11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628900" y="5867400"/>
            <a:ext cx="685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重点：工具入口可以不同，但标准资产必须统一，避免不同 AI 读出不同流程。</a:t>
            </a:r>
            <a:endParaRPr sz="1425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477500" y="64389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</a:t>
            </a:r>
            <a:endParaRPr sz="8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19100"/>
            <a:ext cx="7810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五阶段生成流程</a:t>
            </a:r>
            <a:endParaRPr sz="225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从资料识别到导出交付，AI 每一步都有明确边界。</a:t>
            </a:r>
            <a:endParaRPr sz="11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19200"/>
            <a:ext cx="9906000" cy="1905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046480" y="1322070"/>
            <a:ext cx="8021320" cy="463232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9467850" y="1657350"/>
            <a:ext cx="1695450" cy="781050"/>
          </a:xfrm>
          <a:prstGeom prst="rect">
            <a:avLst/>
          </a:prstGeom>
          <a:solidFill>
            <a:srgbClr val="EAF3FB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639300" y="1790700"/>
            <a:ext cx="1352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F6F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F6F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输入</a:t>
            </a:r>
            <a:endParaRPr sz="1275" b="1">
              <a:solidFill>
                <a:srgbClr val="1F6F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620250" y="20764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需求/接口/页面变更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467850" y="2781300"/>
            <a:ext cx="1695450" cy="781050"/>
          </a:xfrm>
          <a:prstGeom prst="rect">
            <a:avLst/>
          </a:prstGeom>
          <a:solidFill>
            <a:srgbClr val="EAF7F1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639300" y="2914650"/>
            <a:ext cx="1352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F8A5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F8A5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过程</a:t>
            </a:r>
            <a:endParaRPr sz="1275" b="1">
              <a:solidFill>
                <a:srgbClr val="1F8A5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620250" y="320040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检查点匹配 + 用例生成 + 评审补漏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467850" y="3905250"/>
            <a:ext cx="1695450" cy="781050"/>
          </a:xfrm>
          <a:prstGeom prst="rect">
            <a:avLst/>
          </a:prstGeom>
          <a:solidFill>
            <a:srgbClr val="FFF3E6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639300" y="4038600"/>
            <a:ext cx="1352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4A26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F4A26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输出</a:t>
            </a:r>
            <a:endParaRPr sz="1275" b="1">
              <a:solidFill>
                <a:srgbClr val="F4A26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620250" y="43243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测试用例草稿、评审版、导出版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524000" y="6038850"/>
            <a:ext cx="914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先选检查点，再补评审点，最后统一导出。不要跳过中间评审。</a:t>
            </a:r>
            <a:endParaRPr sz="120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477500" y="64389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</a:t>
            </a:r>
            <a:endParaRPr sz="8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19100"/>
            <a:ext cx="7810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知识资产怎么沉淀</a:t>
            </a:r>
            <a:endParaRPr sz="225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Skills 不是一句提示词，而是一组可维护的工程资产。</a:t>
            </a:r>
            <a:endParaRPr sz="11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19200"/>
            <a:ext cx="9906000" cy="1905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600200"/>
            <a:ext cx="33337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600200"/>
            <a:ext cx="57150" cy="139065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771650"/>
            <a:ext cx="3009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F6F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checkpoints-index.md</a:t>
            </a:r>
            <a:endParaRPr sz="1275" b="1">
              <a:solidFill>
                <a:srgbClr val="1F6F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62000" y="2114550"/>
            <a:ext cx="3009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定义检查点来源、适用场景和覆盖规则，让 AI 先知道“测什么”。</a:t>
            </a:r>
            <a:endParaRPr sz="97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38650" y="1600200"/>
            <a:ext cx="33337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438650" y="1600200"/>
            <a:ext cx="57150" cy="1390650"/>
          </a:xfrm>
          <a:prstGeom prst="rect">
            <a:avLst/>
          </a:prstGeom>
          <a:solidFill>
            <a:srgbClr val="1F8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48200" y="1771650"/>
            <a:ext cx="3009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8A5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1F8A5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review-expectations-index.md</a:t>
            </a:r>
            <a:endParaRPr sz="1275" b="1">
              <a:solidFill>
                <a:srgbClr val="1F8A5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48200" y="2114550"/>
            <a:ext cx="3009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定义评审期望、常见漏测和补充方向，让 AI 知道“怎么补”。</a:t>
            </a:r>
            <a:endParaRPr sz="97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24850" y="1600200"/>
            <a:ext cx="333375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1600200"/>
            <a:ext cx="57150" cy="1390650"/>
          </a:xfrm>
          <a:prstGeom prst="rect">
            <a:avLst/>
          </a:prstGeom>
          <a:solidFill>
            <a:srgbClr val="6A4F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534400" y="1771650"/>
            <a:ext cx="3009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6A4FB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6A4FB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project.config.md</a:t>
            </a:r>
            <a:endParaRPr sz="1275" b="1">
              <a:solidFill>
                <a:srgbClr val="6A4FB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34400" y="2114550"/>
            <a:ext cx="3009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定义项目名称、输出字段、导出格式和团队约定，让 AI 知道“按什么交付”。</a:t>
            </a:r>
            <a:endParaRPr sz="97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809750" y="3486150"/>
            <a:ext cx="1428750" cy="361950"/>
          </a:xfrm>
          <a:prstGeom prst="rect">
            <a:avLst/>
          </a:prstGeom>
          <a:solidFill>
            <a:srgbClr val="12345A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885950" y="3562350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资产</a:t>
            </a:r>
            <a:endParaRPr sz="9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238500" y="3486150"/>
            <a:ext cx="2190750" cy="361950"/>
          </a:xfrm>
          <a:prstGeom prst="rect">
            <a:avLst/>
          </a:prstGeom>
          <a:solidFill>
            <a:srgbClr val="12345A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314700" y="35623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维护时机</a:t>
            </a:r>
            <a:endParaRPr sz="9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429250" y="3486150"/>
            <a:ext cx="2381250" cy="361950"/>
          </a:xfrm>
          <a:prstGeom prst="rect">
            <a:avLst/>
          </a:prstGeom>
          <a:solidFill>
            <a:srgbClr val="12345A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505450" y="3562350"/>
            <a:ext cx="2228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负责人关注点</a:t>
            </a:r>
            <a:endParaRPr sz="9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0" y="3486150"/>
            <a:ext cx="2571750" cy="361950"/>
          </a:xfrm>
          <a:prstGeom prst="rect">
            <a:avLst/>
          </a:prstGeom>
          <a:solidFill>
            <a:srgbClr val="12345A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886700" y="3562350"/>
            <a:ext cx="2419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培训讲法</a:t>
            </a:r>
            <a:endParaRPr sz="9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809750" y="3848100"/>
            <a:ext cx="1428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885950" y="3924300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检查点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238500" y="3848100"/>
            <a:ext cx="2190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314700" y="392430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新功能/新业务上线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429250" y="3848100"/>
            <a:ext cx="2381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505450" y="3924300"/>
            <a:ext cx="2228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覆盖范围、优先级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810500" y="3848100"/>
            <a:ext cx="2571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886700" y="3924300"/>
            <a:ext cx="2419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决定测什么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809750" y="4210050"/>
            <a:ext cx="1428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885950" y="4286250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评审点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238500" y="4210050"/>
            <a:ext cx="2190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314700" y="42862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发现漏测/返工后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429250" y="4210050"/>
            <a:ext cx="2381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05450" y="4286250"/>
            <a:ext cx="2228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风险场景、异常链路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810500" y="4210050"/>
            <a:ext cx="2571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886700" y="4286250"/>
            <a:ext cx="2419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决定怎么补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809750" y="4572000"/>
            <a:ext cx="1428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885950" y="4648200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项目配置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238500" y="4572000"/>
            <a:ext cx="2190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3314700" y="464820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字段/模板变化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429250" y="4572000"/>
            <a:ext cx="2381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5505450" y="4648200"/>
            <a:ext cx="2228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格式、工具兼容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810500" y="4572000"/>
            <a:ext cx="2571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7886700" y="4648200"/>
            <a:ext cx="2419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决定怎么交付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600200" y="5314950"/>
            <a:ext cx="8763000" cy="590550"/>
          </a:xfrm>
          <a:prstGeom prst="rect">
            <a:avLst/>
          </a:prstGeom>
          <a:solidFill>
            <a:srgbClr val="1234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866900" y="5467350"/>
            <a:ext cx="8229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资产维护原则：业务变了，先改资产；提示词复用，靠 Skill 自动读取。</a:t>
            </a:r>
            <a:endParaRPr sz="14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0477500" y="64389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</a:t>
            </a:r>
            <a:endParaRPr sz="8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19100"/>
            <a:ext cx="7810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实际操作流程</a:t>
            </a:r>
            <a:endParaRPr sz="225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培训时可以直接按这条路径演示，从初始化到导出形成闭环。</a:t>
            </a:r>
            <a:endParaRPr sz="11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19200"/>
            <a:ext cx="9906000" cy="1905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1600200"/>
            <a:ext cx="24003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752600"/>
            <a:ext cx="323850" cy="32385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81927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sz="10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1752600"/>
            <a:ext cx="1657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6F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F6F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初始化</a:t>
            </a:r>
            <a:endParaRPr sz="1200" b="1">
              <a:solidFill>
                <a:srgbClr val="1F6F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04900" y="2038350"/>
            <a:ext cx="1657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执行 init-testcase 脚本，生成各工具入口和项目资产目录。</a:t>
            </a:r>
            <a:endParaRPr sz="900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95650" y="1600200"/>
            <a:ext cx="24003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448050" y="1752600"/>
            <a:ext cx="323850" cy="323850"/>
          </a:xfrm>
          <a:prstGeom prst="rect">
            <a:avLst/>
          </a:prstGeom>
          <a:solidFill>
            <a:srgbClr val="6A4F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448050" y="181927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sz="10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886200" y="1752600"/>
            <a:ext cx="1657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6A4FB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6A4FB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触发 Skill</a:t>
            </a:r>
            <a:endParaRPr sz="1200" b="1">
              <a:solidFill>
                <a:srgbClr val="6A4FB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886200" y="2038350"/>
            <a:ext cx="1657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在 Codex、Cursor 或 Claude 中让 AI 读取对应 Skill。</a:t>
            </a:r>
            <a:endParaRPr sz="900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76950" y="1600200"/>
            <a:ext cx="24003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229350" y="1752600"/>
            <a:ext cx="323850" cy="323850"/>
          </a:xfrm>
          <a:prstGeom prst="rect">
            <a:avLst/>
          </a:prstGeom>
          <a:solidFill>
            <a:srgbClr val="1F8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229350" y="181927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sz="10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667500" y="1752600"/>
            <a:ext cx="1657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8A5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F8A5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输入需求</a:t>
            </a:r>
            <a:endParaRPr sz="1200" b="1">
              <a:solidFill>
                <a:srgbClr val="1F8A5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667500" y="2038350"/>
            <a:ext cx="1657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给出需求说明、变更点、接口或页面信息。</a:t>
            </a:r>
            <a:endParaRPr sz="900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4350" y="3067050"/>
            <a:ext cx="24003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66750" y="3219450"/>
            <a:ext cx="323850" cy="323850"/>
          </a:xfrm>
          <a:prstGeom prst="rect">
            <a:avLst/>
          </a:prstGeom>
          <a:solidFill>
            <a:srgbClr val="F4A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66750" y="328612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10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04900" y="3219450"/>
            <a:ext cx="1657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A26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F4A26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选择检查点</a:t>
            </a:r>
            <a:endParaRPr sz="1200" b="1">
              <a:solidFill>
                <a:srgbClr val="F4A26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4900" y="3505200"/>
            <a:ext cx="1657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按项目资产匹配检查点，生成初版用例。</a:t>
            </a:r>
            <a:endParaRPr sz="900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295650" y="3067050"/>
            <a:ext cx="24003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448050" y="3219450"/>
            <a:ext cx="323850" cy="323850"/>
          </a:xfrm>
          <a:prstGeom prst="rect">
            <a:avLst/>
          </a:prstGeom>
          <a:solidFill>
            <a:srgbClr val="D94C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448050" y="328612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</a:t>
            </a:r>
            <a:endParaRPr sz="10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886200" y="3219450"/>
            <a:ext cx="1657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94C4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D94C4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评审优化</a:t>
            </a:r>
            <a:endParaRPr sz="1200" b="1">
              <a:solidFill>
                <a:srgbClr val="D94C4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886200" y="3505200"/>
            <a:ext cx="1657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结合评审点补漏、调整颗粒度和优先级。</a:t>
            </a:r>
            <a:endParaRPr sz="900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76950" y="3067050"/>
            <a:ext cx="2400300" cy="10858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229350" y="3219450"/>
            <a:ext cx="323850" cy="323850"/>
          </a:xfrm>
          <a:prstGeom prst="rect">
            <a:avLst/>
          </a:prstGeom>
          <a:solidFill>
            <a:srgbClr val="1234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229350" y="3286125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endParaRPr sz="105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0" y="3219450"/>
            <a:ext cx="16573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定稿导出</a:t>
            </a:r>
            <a:endParaRPr sz="120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667500" y="3505200"/>
            <a:ext cx="16573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确认字段和格式后导出 Jira CSV、Excel 或 XMind。</a:t>
            </a:r>
            <a:endParaRPr sz="900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972550" y="1695450"/>
            <a:ext cx="2266950" cy="2571750"/>
          </a:xfrm>
          <a:prstGeom prst="rect">
            <a:avLst/>
          </a:prstGeom>
          <a:solidFill>
            <a:srgbClr val="101827"/>
          </a:solidFill>
          <a:ln w="9525">
            <a:solidFill>
              <a:srgbClr val="223044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972550" y="1695450"/>
            <a:ext cx="2266950" cy="266700"/>
          </a:xfrm>
          <a:prstGeom prst="rect">
            <a:avLst/>
          </a:prstGeom>
          <a:solidFill>
            <a:srgbClr val="1B2A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086850" y="1762125"/>
            <a:ext cx="2038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FE6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750" b="1">
                <a:solidFill>
                  <a:srgbClr val="CFE6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现场演示材料</a:t>
            </a:r>
            <a:endParaRPr sz="750" b="1">
              <a:solidFill>
                <a:srgbClr val="CFE6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124950" y="2095500"/>
            <a:ext cx="1981200" cy="211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输入示例：</a:t>
            </a:r>
            <a:endParaRPr sz="8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 需求：登录失败锁定</a:t>
            </a:r>
            <a:endParaRPr sz="8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 变更点：连续 5 次失败</a:t>
            </a:r>
            <a:endParaRPr sz="8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 目标：生成冒烟+异常用例</a:t>
            </a:r>
            <a:endParaRPr sz="8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825"/>
          </a:p>
          <a:p>
            <a:pPr algn="l">
              <a:def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期望输出：</a:t>
            </a:r>
            <a:endParaRPr sz="8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 Markdown 初稿</a:t>
            </a:r>
            <a:endParaRPr sz="8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 评审补漏项</a:t>
            </a:r>
            <a:endParaRPr sz="8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F1F5F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 Jira CSV / Excel</a:t>
            </a:r>
            <a:endParaRPr sz="825" b="0">
              <a:solidFill>
                <a:srgbClr val="F1F5F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247900" y="582930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一句话记忆：先让项目资产定规则，再让 AI 生成内容。</a:t>
            </a:r>
            <a:endParaRPr sz="150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0477500" y="64389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</a:t>
            </a:r>
            <a:endParaRPr sz="8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19100"/>
            <a:ext cx="7810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结果提效体现在哪里</a:t>
            </a:r>
            <a:endParaRPr sz="225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提效不只看“生成得快”，更要看返工减少、交付更稳定。</a:t>
            </a:r>
            <a:endParaRPr sz="11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19200"/>
            <a:ext cx="9906000" cy="1905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47750" y="17907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6F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F6F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流程复用</a:t>
            </a:r>
            <a:endParaRPr sz="1500" b="1">
              <a:solidFill>
                <a:srgbClr val="1F6F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667000" y="1857375"/>
            <a:ext cx="5334000" cy="190500"/>
          </a:xfrm>
          <a:prstGeom prst="rect">
            <a:avLst/>
          </a:prstGeom>
          <a:solidFill>
            <a:srgbClr val="E8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667000" y="1857375"/>
            <a:ext cx="4480560" cy="19050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27051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A4FB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6A4FB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入口统一</a:t>
            </a:r>
            <a:endParaRPr sz="1500" b="1">
              <a:solidFill>
                <a:srgbClr val="6A4FB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667000" y="2771775"/>
            <a:ext cx="5334000" cy="190500"/>
          </a:xfrm>
          <a:prstGeom prst="rect">
            <a:avLst/>
          </a:prstGeom>
          <a:solidFill>
            <a:srgbClr val="E8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667000" y="2771775"/>
            <a:ext cx="3947160" cy="190500"/>
          </a:xfrm>
          <a:prstGeom prst="rect">
            <a:avLst/>
          </a:prstGeom>
          <a:solidFill>
            <a:srgbClr val="6A4F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47750" y="36195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8A5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F8A5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质量前移</a:t>
            </a:r>
            <a:endParaRPr sz="1500" b="1">
              <a:solidFill>
                <a:srgbClr val="1F8A5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667000" y="3686175"/>
            <a:ext cx="5334000" cy="190500"/>
          </a:xfrm>
          <a:prstGeom prst="rect">
            <a:avLst/>
          </a:prstGeom>
          <a:solidFill>
            <a:srgbClr val="E8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667000" y="3686175"/>
            <a:ext cx="4160520" cy="190500"/>
          </a:xfrm>
          <a:prstGeom prst="rect">
            <a:avLst/>
          </a:prstGeom>
          <a:solidFill>
            <a:srgbClr val="1F8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47750" y="45339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4A26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F4A26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交付加速</a:t>
            </a:r>
            <a:endParaRPr sz="1500" b="1">
              <a:solidFill>
                <a:srgbClr val="F4A26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667000" y="4600575"/>
            <a:ext cx="5334000" cy="190500"/>
          </a:xfrm>
          <a:prstGeom prst="rect">
            <a:avLst/>
          </a:prstGeom>
          <a:solidFill>
            <a:srgbClr val="E8EE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667000" y="4600575"/>
            <a:ext cx="3627120" cy="190500"/>
          </a:xfrm>
          <a:prstGeom prst="rect">
            <a:avLst/>
          </a:prstGeom>
          <a:solidFill>
            <a:srgbClr val="F4A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858250" y="1695450"/>
            <a:ext cx="914400" cy="381000"/>
          </a:xfrm>
          <a:prstGeom prst="rect">
            <a:avLst/>
          </a:prstGeom>
          <a:solidFill>
            <a:srgbClr val="1F6FB2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934450" y="17716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指标</a:t>
            </a:r>
            <a:endParaRPr sz="9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772650" y="1695450"/>
            <a:ext cx="1276350" cy="381000"/>
          </a:xfrm>
          <a:prstGeom prst="rect">
            <a:avLst/>
          </a:prstGeom>
          <a:solidFill>
            <a:srgbClr val="1F6FB2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848850" y="177165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观察口径</a:t>
            </a:r>
            <a:endParaRPr sz="9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858250" y="2076450"/>
            <a:ext cx="9144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934450" y="21526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首版耗时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772650" y="2076450"/>
            <a:ext cx="12763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848850" y="215265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从输入到草稿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858250" y="2457450"/>
            <a:ext cx="9144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934450" y="25336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返工次数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772650" y="2457450"/>
            <a:ext cx="12763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848850" y="253365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评审补漏轮次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858250" y="2838450"/>
            <a:ext cx="9144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934450" y="29146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导出成功率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772650" y="2838450"/>
            <a:ext cx="12763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848850" y="291465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格式可直接导入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858250" y="3219450"/>
            <a:ext cx="9144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934450" y="32956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复用次数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772650" y="3219450"/>
            <a:ext cx="12763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848850" y="329565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跨工具/跨需求</a:t>
            </a:r>
            <a:endParaRPr sz="8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047750" y="5467350"/>
            <a:ext cx="9525000" cy="457200"/>
          </a:xfrm>
          <a:prstGeom prst="rect">
            <a:avLst/>
          </a:prstGeom>
          <a:solidFill>
            <a:srgbClr val="1234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333500" y="5600700"/>
            <a:ext cx="895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培训重点：把“感觉快”变成可量化的流程指标，方便后续向团队汇报效果。</a:t>
            </a:r>
            <a:endParaRPr sz="12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0477500" y="64389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</a:t>
            </a:r>
            <a:endParaRPr sz="8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19100"/>
            <a:ext cx="7810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风险与控制</a:t>
            </a:r>
            <a:endParaRPr sz="225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 可以提速，但不能替代工程边界和人工确认。</a:t>
            </a:r>
            <a:endParaRPr sz="11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19200"/>
            <a:ext cx="9906000" cy="1905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90550" y="1581150"/>
            <a:ext cx="3429000" cy="36766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381500" y="1581150"/>
            <a:ext cx="3429000" cy="36766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172450" y="1581150"/>
            <a:ext cx="3429000" cy="36766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190500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D94C4C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1">
                <a:solidFill>
                  <a:srgbClr val="D94C4C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常见风险</a:t>
            </a:r>
            <a:endParaRPr sz="1725" b="1">
              <a:solidFill>
                <a:srgbClr val="D94C4C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2524125"/>
            <a:ext cx="95250" cy="95250"/>
          </a:xfrm>
          <a:prstGeom prst="rect">
            <a:avLst/>
          </a:prstGeom>
          <a:solidFill>
            <a:srgbClr val="D94C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81100" y="2476500"/>
            <a:ext cx="2571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未读资产就生成</a:t>
            </a:r>
            <a:endParaRPr sz="11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3076575"/>
            <a:ext cx="95250" cy="95250"/>
          </a:xfrm>
          <a:prstGeom prst="rect">
            <a:avLst/>
          </a:prstGeom>
          <a:solidFill>
            <a:srgbClr val="D94C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81100" y="3028950"/>
            <a:ext cx="2571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模型猜测当事实</a:t>
            </a:r>
            <a:endParaRPr sz="11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52500" y="3629025"/>
            <a:ext cx="95250" cy="95250"/>
          </a:xfrm>
          <a:prstGeom prst="rect">
            <a:avLst/>
          </a:prstGeom>
          <a:solidFill>
            <a:srgbClr val="D94C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81100" y="3581400"/>
            <a:ext cx="2571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检查点过旧</a:t>
            </a:r>
            <a:endParaRPr sz="11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52500" y="4181475"/>
            <a:ext cx="95250" cy="95250"/>
          </a:xfrm>
          <a:prstGeom prst="rect">
            <a:avLst/>
          </a:prstGeom>
          <a:solidFill>
            <a:srgbClr val="D94C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81100" y="4133850"/>
            <a:ext cx="2571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导出前未确认</a:t>
            </a:r>
            <a:endParaRPr sz="11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86300" y="190500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F8A5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1">
                <a:solidFill>
                  <a:srgbClr val="1F8A5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控制方式</a:t>
            </a:r>
            <a:endParaRPr sz="1725" b="1">
              <a:solidFill>
                <a:srgbClr val="1F8A5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43450" y="2524125"/>
            <a:ext cx="95250" cy="95250"/>
          </a:xfrm>
          <a:prstGeom prst="rect">
            <a:avLst/>
          </a:prstGeom>
          <a:solidFill>
            <a:srgbClr val="1F8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972050" y="2476500"/>
            <a:ext cx="2571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确认 Skill 触发</a:t>
            </a:r>
            <a:endParaRPr sz="11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743450" y="3076575"/>
            <a:ext cx="95250" cy="95250"/>
          </a:xfrm>
          <a:prstGeom prst="rect">
            <a:avLst/>
          </a:prstGeom>
          <a:solidFill>
            <a:srgbClr val="1F8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972050" y="3028950"/>
            <a:ext cx="2571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事实来源可追溯</a:t>
            </a:r>
            <a:endParaRPr sz="11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743450" y="3629025"/>
            <a:ext cx="95250" cy="95250"/>
          </a:xfrm>
          <a:prstGeom prst="rect">
            <a:avLst/>
          </a:prstGeom>
          <a:solidFill>
            <a:srgbClr val="1F8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972050" y="3581400"/>
            <a:ext cx="2571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维护检查点</a:t>
            </a:r>
            <a:endParaRPr sz="11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743450" y="4181475"/>
            <a:ext cx="95250" cy="95250"/>
          </a:xfrm>
          <a:prstGeom prst="rect">
            <a:avLst/>
          </a:prstGeom>
          <a:solidFill>
            <a:srgbClr val="1F8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972050" y="4133850"/>
            <a:ext cx="2571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保留人工确认</a:t>
            </a:r>
            <a:endParaRPr sz="11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477250" y="190500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F6FB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25" b="1">
                <a:solidFill>
                  <a:srgbClr val="1F6FB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交付前检查</a:t>
            </a:r>
            <a:endParaRPr sz="1725" b="1">
              <a:solidFill>
                <a:srgbClr val="1F6FB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534400" y="2524125"/>
            <a:ext cx="95250" cy="9525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763000" y="2476500"/>
            <a:ext cx="2571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字段是否齐全</a:t>
            </a:r>
            <a:endParaRPr sz="11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534400" y="3076575"/>
            <a:ext cx="95250" cy="9525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763000" y="3028950"/>
            <a:ext cx="2571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优先级是否合理</a:t>
            </a:r>
            <a:endParaRPr sz="11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534400" y="3629025"/>
            <a:ext cx="95250" cy="9525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763000" y="3581400"/>
            <a:ext cx="2571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异常链路是否覆盖</a:t>
            </a:r>
            <a:endParaRPr sz="11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534400" y="4181475"/>
            <a:ext cx="95250" cy="9525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763000" y="4133850"/>
            <a:ext cx="2571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>
                <a:solidFill>
                  <a:srgbClr val="26324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格式是否可导入</a:t>
            </a:r>
            <a:endParaRPr sz="1125" b="0">
              <a:solidFill>
                <a:srgbClr val="26324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152650" y="577215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关键原则：AI 负责加速，流程负责兜底，测试人员负责最终质量。</a:t>
            </a:r>
            <a:endParaRPr sz="150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0477500" y="64389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</a:t>
            </a:r>
            <a:endParaRPr sz="8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19100"/>
            <a:ext cx="7810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zh-CN">
                <a:sym typeface="+mn-ea"/>
              </a:rPr>
              <a:t>从人到交付的泳道</a:t>
            </a:r>
            <a:endParaRPr lang="zh-CN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225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225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76300"/>
            <a:ext cx="809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zh-CN">
                <a:sym typeface="+mn-ea"/>
              </a:rPr>
              <a:t>人与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协同的泳道图，清晰定义各阶段职责边界与闭环路径。</a:t>
            </a:r>
            <a:endParaRPr lang="zh-CN" altLang="en-US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11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11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219200"/>
            <a:ext cx="9906000" cy="19050"/>
          </a:xfrm>
          <a:prstGeom prst="rect">
            <a:avLst/>
          </a:prstGeom>
          <a:solidFill>
            <a:srgbClr val="D7E0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2152650" y="613156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150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</a:t>
            </a:r>
            <a:r>
              <a:rPr lang="zh-CN" altLang="en-US" sz="150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不是单独工作，它</a:t>
            </a:r>
            <a:r>
              <a:rPr lang="zh-CN" altLang="en-US" sz="150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接在流程</a:t>
            </a:r>
            <a:r>
              <a:rPr lang="zh-CN" altLang="en-US" sz="1500" b="1">
                <a:solidFill>
                  <a:srgbClr val="12345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里</a:t>
            </a:r>
            <a:endParaRPr lang="zh-CN" altLang="en-US" sz="1500" b="1">
              <a:solidFill>
                <a:srgbClr val="12345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0477500" y="64389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</a:t>
            </a:r>
            <a:endParaRPr sz="8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39445" y="1628140"/>
            <a:ext cx="1160145" cy="32004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人</a:t>
            </a:r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639445" y="2987675"/>
            <a:ext cx="1160145" cy="3200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资产</a:t>
            </a:r>
            <a:endParaRPr lang="zh-CN" altLang="en-US"/>
          </a:p>
        </p:txBody>
      </p:sp>
      <p:sp>
        <p:nvSpPr>
          <p:cNvPr id="41" name="圆角矩形 40"/>
          <p:cNvSpPr/>
          <p:nvPr/>
        </p:nvSpPr>
        <p:spPr>
          <a:xfrm>
            <a:off x="639445" y="3629660"/>
            <a:ext cx="1160145" cy="32004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生成</a:t>
            </a:r>
            <a:endParaRPr lang="zh-CN" altLang="en-US"/>
          </a:p>
        </p:txBody>
      </p:sp>
      <p:sp>
        <p:nvSpPr>
          <p:cNvPr id="39" name="圆角矩形 38"/>
          <p:cNvSpPr/>
          <p:nvPr/>
        </p:nvSpPr>
        <p:spPr>
          <a:xfrm>
            <a:off x="639445" y="2307590"/>
            <a:ext cx="1160145" cy="32004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r>
              <a:rPr lang="en-US" altLang="zh-CN"/>
              <a:t>S</a:t>
            </a:r>
            <a:r>
              <a:rPr lang="en-US" altLang="zh-CN"/>
              <a:t>kills</a:t>
            </a:r>
            <a:endParaRPr lang="en-US" altLang="zh-CN"/>
          </a:p>
        </p:txBody>
      </p:sp>
      <p:sp>
        <p:nvSpPr>
          <p:cNvPr id="42" name="圆角矩形 41"/>
          <p:cNvSpPr/>
          <p:nvPr/>
        </p:nvSpPr>
        <p:spPr>
          <a:xfrm>
            <a:off x="639445" y="4346575"/>
            <a:ext cx="1160145" cy="32004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评审</a:t>
            </a:r>
            <a:endParaRPr lang="zh-CN" altLang="en-US"/>
          </a:p>
        </p:txBody>
      </p:sp>
      <p:sp>
        <p:nvSpPr>
          <p:cNvPr id="43" name="圆角矩形 42"/>
          <p:cNvSpPr/>
          <p:nvPr/>
        </p:nvSpPr>
        <p:spPr>
          <a:xfrm>
            <a:off x="639445" y="5114290"/>
            <a:ext cx="1160145" cy="32004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导出</a:t>
            </a:r>
            <a:endParaRPr lang="zh-CN" altLang="en-US"/>
          </a:p>
        </p:txBody>
      </p:sp>
      <p:cxnSp>
        <p:nvCxnSpPr>
          <p:cNvPr id="48" name="line 14"/>
          <p:cNvCxnSpPr/>
          <p:nvPr/>
        </p:nvCxnSpPr>
        <p:spPr>
          <a:xfrm>
            <a:off x="2117500" y="1808569"/>
            <a:ext cx="8388000" cy="0"/>
          </a:xfrm>
          <a:prstGeom prst="line">
            <a:avLst/>
          </a:prstGeom>
          <a:ln w="12700">
            <a:solidFill>
              <a:srgbClr val="D9E1EC"/>
            </a:solidFill>
            <a:round/>
          </a:ln>
        </p:spPr>
      </p:cxnSp>
      <p:cxnSp>
        <p:nvCxnSpPr>
          <p:cNvPr id="49" name="line 14"/>
          <p:cNvCxnSpPr/>
          <p:nvPr/>
        </p:nvCxnSpPr>
        <p:spPr>
          <a:xfrm>
            <a:off x="2152425" y="2524214"/>
            <a:ext cx="8388000" cy="0"/>
          </a:xfrm>
          <a:prstGeom prst="line">
            <a:avLst/>
          </a:prstGeom>
          <a:ln w="12700">
            <a:solidFill>
              <a:srgbClr val="D9E1EC"/>
            </a:solidFill>
            <a:round/>
          </a:ln>
        </p:spPr>
      </p:cxnSp>
      <p:cxnSp>
        <p:nvCxnSpPr>
          <p:cNvPr id="50" name="line 14"/>
          <p:cNvCxnSpPr/>
          <p:nvPr/>
        </p:nvCxnSpPr>
        <p:spPr>
          <a:xfrm>
            <a:off x="2152425" y="3167469"/>
            <a:ext cx="8388000" cy="0"/>
          </a:xfrm>
          <a:prstGeom prst="line">
            <a:avLst/>
          </a:prstGeom>
          <a:ln w="12700">
            <a:solidFill>
              <a:srgbClr val="D9E1EC"/>
            </a:solidFill>
            <a:round/>
          </a:ln>
        </p:spPr>
      </p:cxnSp>
      <p:cxnSp>
        <p:nvCxnSpPr>
          <p:cNvPr id="51" name="line 14"/>
          <p:cNvCxnSpPr/>
          <p:nvPr/>
        </p:nvCxnSpPr>
        <p:spPr>
          <a:xfrm>
            <a:off x="2152425" y="3810089"/>
            <a:ext cx="8388000" cy="0"/>
          </a:xfrm>
          <a:prstGeom prst="line">
            <a:avLst/>
          </a:prstGeom>
          <a:ln w="12700">
            <a:solidFill>
              <a:srgbClr val="D9E1EC"/>
            </a:solidFill>
            <a:round/>
          </a:ln>
        </p:spPr>
      </p:cxnSp>
      <p:cxnSp>
        <p:nvCxnSpPr>
          <p:cNvPr id="52" name="line 14"/>
          <p:cNvCxnSpPr/>
          <p:nvPr/>
        </p:nvCxnSpPr>
        <p:spPr>
          <a:xfrm>
            <a:off x="2117500" y="4506684"/>
            <a:ext cx="8388000" cy="0"/>
          </a:xfrm>
          <a:prstGeom prst="line">
            <a:avLst/>
          </a:prstGeom>
          <a:ln w="12700">
            <a:solidFill>
              <a:srgbClr val="D9E1EC"/>
            </a:solidFill>
            <a:round/>
          </a:ln>
        </p:spPr>
      </p:cxnSp>
      <p:cxnSp>
        <p:nvCxnSpPr>
          <p:cNvPr id="53" name="line 14"/>
          <p:cNvCxnSpPr/>
          <p:nvPr/>
        </p:nvCxnSpPr>
        <p:spPr>
          <a:xfrm>
            <a:off x="2152425" y="5274399"/>
            <a:ext cx="8388000" cy="0"/>
          </a:xfrm>
          <a:prstGeom prst="line">
            <a:avLst/>
          </a:prstGeom>
          <a:ln w="12700">
            <a:solidFill>
              <a:srgbClr val="D9E1EC"/>
            </a:solidFill>
            <a:round/>
          </a:ln>
        </p:spPr>
      </p:cxnSp>
      <p:sp>
        <p:nvSpPr>
          <p:cNvPr id="54" name="shape 30"/>
          <p:cNvSpPr/>
          <p:nvPr/>
        </p:nvSpPr>
        <p:spPr>
          <a:xfrm>
            <a:off x="2279625" y="1688505"/>
            <a:ext cx="1007999" cy="2232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/>
          <a:p>
            <a:pPr algn="ctr"/>
            <a:r>
              <a:rPr lang="zh-CN" altLang="en-US" sz="1000"/>
              <a:t>输入需求</a:t>
            </a:r>
            <a:endParaRPr lang="zh-CN" altLang="en-US" sz="1000"/>
          </a:p>
        </p:txBody>
      </p:sp>
      <p:sp>
        <p:nvSpPr>
          <p:cNvPr id="55" name="shape 30"/>
          <p:cNvSpPr/>
          <p:nvPr/>
        </p:nvSpPr>
        <p:spPr>
          <a:xfrm>
            <a:off x="3424530" y="2406055"/>
            <a:ext cx="1007999" cy="223200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2">
                <a:lumMod val="50000"/>
                <a:lumOff val="50000"/>
              </a:schemeClr>
            </a:solidFill>
          </a:ln>
        </p:spPr>
        <p:txBody>
          <a:bodyPr/>
          <a:p>
            <a:pPr algn="ctr"/>
            <a:r>
              <a:rPr lang="zh-CN" altLang="en-US" sz="1000"/>
              <a:t>触发</a:t>
            </a:r>
            <a:r>
              <a:rPr lang="zh-CN" altLang="en-US" sz="1000"/>
              <a:t>规则</a:t>
            </a:r>
            <a:endParaRPr lang="zh-CN" altLang="en-US" sz="1000"/>
          </a:p>
        </p:txBody>
      </p:sp>
      <p:sp>
        <p:nvSpPr>
          <p:cNvPr id="56" name="shape 30"/>
          <p:cNvSpPr/>
          <p:nvPr/>
        </p:nvSpPr>
        <p:spPr>
          <a:xfrm>
            <a:off x="4721835" y="3055660"/>
            <a:ext cx="1007999" cy="22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txBody>
          <a:bodyPr/>
          <a:p>
            <a:pPr algn="ctr"/>
            <a:r>
              <a:rPr lang="zh-CN" altLang="en-US" sz="1000"/>
              <a:t>读取检查</a:t>
            </a:r>
            <a:r>
              <a:rPr lang="zh-CN" altLang="en-US" sz="1000"/>
              <a:t>点</a:t>
            </a:r>
            <a:endParaRPr lang="zh-CN" altLang="en-US" sz="1000"/>
          </a:p>
        </p:txBody>
      </p:sp>
      <p:sp>
        <p:nvSpPr>
          <p:cNvPr id="57" name="shape 30"/>
          <p:cNvSpPr/>
          <p:nvPr/>
        </p:nvSpPr>
        <p:spPr>
          <a:xfrm>
            <a:off x="6095975" y="3725585"/>
            <a:ext cx="1007999" cy="22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050"/>
            </a:solidFill>
          </a:ln>
        </p:spPr>
        <p:txBody>
          <a:bodyPr/>
          <a:p>
            <a:pPr algn="ctr"/>
            <a:r>
              <a:rPr lang="zh-CN" altLang="en-US" sz="1000"/>
              <a:t>生成</a:t>
            </a:r>
            <a:r>
              <a:rPr lang="zh-CN" altLang="en-US" sz="1000"/>
              <a:t>初稿</a:t>
            </a:r>
            <a:endParaRPr lang="zh-CN" altLang="en-US" sz="1000"/>
          </a:p>
        </p:txBody>
      </p:sp>
      <p:sp>
        <p:nvSpPr>
          <p:cNvPr id="58" name="shape 30"/>
          <p:cNvSpPr/>
          <p:nvPr/>
        </p:nvSpPr>
        <p:spPr>
          <a:xfrm>
            <a:off x="7469480" y="4401225"/>
            <a:ext cx="1007999" cy="22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0000"/>
            </a:solidFill>
          </a:ln>
        </p:spPr>
        <p:txBody>
          <a:bodyPr/>
          <a:p>
            <a:pPr algn="ctr"/>
            <a:r>
              <a:rPr lang="zh-CN" altLang="en-US" sz="1000"/>
              <a:t>补漏</a:t>
            </a:r>
            <a:r>
              <a:rPr lang="zh-CN" altLang="en-US" sz="1000"/>
              <a:t>确认</a:t>
            </a:r>
            <a:endParaRPr lang="zh-CN" altLang="en-US" sz="1000"/>
          </a:p>
        </p:txBody>
      </p:sp>
      <p:sp>
        <p:nvSpPr>
          <p:cNvPr id="59" name="shape 30"/>
          <p:cNvSpPr/>
          <p:nvPr/>
        </p:nvSpPr>
        <p:spPr>
          <a:xfrm>
            <a:off x="8996020" y="5184815"/>
            <a:ext cx="1007999" cy="22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30A0"/>
            </a:solidFill>
          </a:ln>
        </p:spPr>
        <p:txBody>
          <a:bodyPr/>
          <a:p>
            <a:pPr algn="ctr"/>
            <a:r>
              <a:rPr lang="zh-CN" altLang="en-US" sz="1000"/>
              <a:t>格式</a:t>
            </a:r>
            <a:r>
              <a:rPr lang="zh-CN" altLang="en-US" sz="1000"/>
              <a:t>导出</a:t>
            </a:r>
            <a:endParaRPr lang="zh-CN" altLang="en-US" sz="1000"/>
          </a:p>
        </p:txBody>
      </p:sp>
      <p:sp>
        <p:nvSpPr>
          <p:cNvPr id="60" name="text 43"/>
          <p:cNvSpPr txBox="1"/>
          <p:nvPr/>
        </p:nvSpPr>
        <p:spPr>
          <a:xfrm>
            <a:off x="2807970" y="5493385"/>
            <a:ext cx="5728335" cy="4375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8C8A"/>
                </a:solidFill>
                <a:latin typeface="微软雅黑"/>
              </a:rPr>
              <a:t>闭环：真实返工点沉淀回检查点和评审点，下次自动复用。</a:t>
            </a:r>
            <a:endParaRPr lang="zh-CN" sz="1000" b="1">
              <a:solidFill>
                <a:srgbClr val="2D6FBC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4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723900"/>
            <a:ext cx="8382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总结：从 Prompt 到 Skills 系统</a:t>
            </a:r>
            <a:endParaRPr sz="27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2095500"/>
            <a:ext cx="1619250" cy="838200"/>
          </a:xfrm>
          <a:prstGeom prst="rect">
            <a:avLst/>
          </a:prstGeom>
          <a:solidFill>
            <a:srgbClr val="D94C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22860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Prompt</a:t>
            </a:r>
            <a:endParaRPr sz="14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259080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临时提问</a:t>
            </a:r>
            <a:endParaRPr sz="1050" b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495550" y="2495550"/>
            <a:ext cx="476250" cy="38100"/>
          </a:xfrm>
          <a:prstGeom prst="rect">
            <a:avLst/>
          </a:prstGeom>
          <a:solidFill>
            <a:srgbClr val="BFD7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009900" y="2095500"/>
            <a:ext cx="1619250" cy="838200"/>
          </a:xfrm>
          <a:prstGeom prst="rect">
            <a:avLst/>
          </a:prstGeom>
          <a:solidFill>
            <a:srgbClr val="1F6F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009900" y="22860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Skill</a:t>
            </a:r>
            <a:endParaRPr sz="14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09900" y="259080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固定流程</a:t>
            </a:r>
            <a:endParaRPr sz="1050" b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705350" y="2495550"/>
            <a:ext cx="476250" cy="38100"/>
          </a:xfrm>
          <a:prstGeom prst="rect">
            <a:avLst/>
          </a:prstGeom>
          <a:solidFill>
            <a:srgbClr val="BFD7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219700" y="2095500"/>
            <a:ext cx="1619250" cy="838200"/>
          </a:xfrm>
          <a:prstGeom prst="rect">
            <a:avLst/>
          </a:prstGeom>
          <a:solidFill>
            <a:srgbClr val="1F8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219700" y="22860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Assets</a:t>
            </a:r>
            <a:endParaRPr sz="14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219700" y="259080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项目知识</a:t>
            </a:r>
            <a:endParaRPr sz="1050" b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915150" y="2495550"/>
            <a:ext cx="476250" cy="38100"/>
          </a:xfrm>
          <a:prstGeom prst="rect">
            <a:avLst/>
          </a:prstGeom>
          <a:solidFill>
            <a:srgbClr val="BFD7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29500" y="2095500"/>
            <a:ext cx="1619250" cy="838200"/>
          </a:xfrm>
          <a:prstGeom prst="rect">
            <a:avLst/>
          </a:prstGeom>
          <a:solidFill>
            <a:srgbClr val="F4A26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429500" y="22860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Review</a:t>
            </a:r>
            <a:endParaRPr sz="14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0" y="259080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质量闭环</a:t>
            </a:r>
            <a:endParaRPr sz="1050" b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124950" y="2495550"/>
            <a:ext cx="476250" cy="38100"/>
          </a:xfrm>
          <a:prstGeom prst="rect">
            <a:avLst/>
          </a:prstGeom>
          <a:solidFill>
            <a:srgbClr val="BFD7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639300" y="2095500"/>
            <a:ext cx="1619250" cy="838200"/>
          </a:xfrm>
          <a:prstGeom prst="rect">
            <a:avLst/>
          </a:prstGeom>
          <a:solidFill>
            <a:srgbClr val="6A4FB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639300" y="22860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Export</a:t>
            </a:r>
            <a:endParaRPr sz="142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639300" y="259080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稳定交付</a:t>
            </a:r>
            <a:endParaRPr sz="1050" b="0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219200" y="4000500"/>
            <a:ext cx="9715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 提效的关键，不是让它自由发挥，而是用 Skills 把它接入标准化工程流程。</a:t>
            </a:r>
            <a:endParaRPr sz="21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38350" y="5219700"/>
            <a:ext cx="2324100" cy="457200"/>
          </a:xfrm>
          <a:prstGeom prst="rect">
            <a:avLst/>
          </a:prstGeom>
          <a:solidFill>
            <a:srgbClr val="1B4F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152650" y="536257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1. 先在项目初始化 Skills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819650" y="5219700"/>
            <a:ext cx="2324100" cy="457200"/>
          </a:xfrm>
          <a:prstGeom prst="rect">
            <a:avLst/>
          </a:prstGeom>
          <a:solidFill>
            <a:srgbClr val="1B4F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933950" y="536257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2. 用真实需求跑一遍五阶段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00950" y="5219700"/>
            <a:ext cx="2324100" cy="457200"/>
          </a:xfrm>
          <a:prstGeom prst="rect">
            <a:avLst/>
          </a:prstGeom>
          <a:solidFill>
            <a:srgbClr val="1B4F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715250" y="5362575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3. 把返工点沉淀回资产</a:t>
            </a:r>
            <a:endParaRPr sz="9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171700" y="5905500"/>
            <a:ext cx="781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DDEBFA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425" b="0">
                <a:solidFill>
                  <a:srgbClr val="DDEBF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带走三件事：资产统一、流程分阶段、结果可验证。</a:t>
            </a:r>
            <a:endParaRPr sz="1425" b="0">
              <a:solidFill>
                <a:srgbClr val="DDEBFA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477500" y="64389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>
                <a:solidFill>
                  <a:srgbClr val="65758B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sz="825" b="0">
              <a:solidFill>
                <a:srgbClr val="65758B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2509</Words>
  <Application>WPS 演示</Application>
  <PresentationFormat>Converted Presentation</PresentationFormat>
  <Paragraphs>431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Arial</vt:lpstr>
      <vt:lpstr>宋体</vt:lpstr>
      <vt:lpstr>汉仪书宋二KW</vt:lpstr>
      <vt:lpstr>微软雅黑</vt:lpstr>
      <vt:lpstr>汉仪旗黑</vt:lpstr>
      <vt:lpstr>Arial Unicode MS</vt:lpstr>
      <vt:lpstr>Calibri</vt:lpstr>
      <vt:lpstr>Helvetica Neue</vt:lpstr>
      <vt:lpstr>微软雅黑</vt:lpstr>
      <vt:lpstr>Wingdings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夏天</cp:lastModifiedBy>
  <cp:revision>3</cp:revision>
  <dcterms:created xsi:type="dcterms:W3CDTF">2026-06-05T03:59:22Z</dcterms:created>
  <dcterms:modified xsi:type="dcterms:W3CDTF">2026-06-05T03:59:22Z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EB2F4132090B3529AD41226AA5D9FA8C_42</vt:lpwstr>
  </property>
</Properties>
</file>